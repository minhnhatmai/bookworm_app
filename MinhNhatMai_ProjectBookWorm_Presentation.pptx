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Arimo"/>
      <p:regular r:id="rId11"/>
      <p:bold r:id="rId12"/>
      <p:italic r:id="rId13"/>
      <p:boldItalic r:id="rId14"/>
    </p:embeddedFont>
    <p:embeddedFont>
      <p:font typeface="Azeret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mo-regular.fntdata"/><Relationship Id="rId10" Type="http://schemas.openxmlformats.org/officeDocument/2006/relationships/slide" Target="slides/slide5.xml"/><Relationship Id="rId13" Type="http://schemas.openxmlformats.org/officeDocument/2006/relationships/font" Target="fonts/Arimo-italic.fntdata"/><Relationship Id="rId12" Type="http://schemas.openxmlformats.org/officeDocument/2006/relationships/font" Target="fonts/Arim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zeretMono-regular.fntdata"/><Relationship Id="rId14" Type="http://schemas.openxmlformats.org/officeDocument/2006/relationships/font" Target="fonts/Arimo-boldItalic.fntdata"/><Relationship Id="rId17" Type="http://schemas.openxmlformats.org/officeDocument/2006/relationships/font" Target="fonts/AzeretMono-italic.fntdata"/><Relationship Id="rId16" Type="http://schemas.openxmlformats.org/officeDocument/2006/relationships/font" Target="fonts/Azeret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Azeret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D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950" y="1143000"/>
            <a:ext cx="99441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1333500" y="1352550"/>
            <a:ext cx="9525000" cy="4152900"/>
          </a:xfrm>
          <a:prstGeom prst="roundRect">
            <a:avLst>
              <a:gd fmla="val 6880" name="adj"/>
            </a:avLst>
          </a:prstGeom>
          <a:noFill/>
          <a:ln cap="flat" cmpd="sng" w="9525">
            <a:solidFill>
              <a:srgbClr val="D1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485423" y="1880294"/>
            <a:ext cx="9221152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BookWorm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704975" y="3270944"/>
            <a:ext cx="87820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Azeret Mono"/>
                <a:ea typeface="Azeret Mono"/>
                <a:cs typeface="Azeret Mono"/>
                <a:sym typeface="Azeret Mono"/>
              </a:rPr>
              <a:t>A Python-Based Library Management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704975" y="4531965"/>
            <a:ext cx="8782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CCGC 5003 • Phase 4 Demo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DD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812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Project Overview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4E1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71500" y="1981200"/>
            <a:ext cx="1133475" cy="247650"/>
          </a:xfrm>
          <a:prstGeom prst="roundRect">
            <a:avLst>
              <a:gd fmla="val 30769" name="adj"/>
            </a:avLst>
          </a:prstGeom>
          <a:solidFill>
            <a:srgbClr val="E8E4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66750" y="2028825"/>
            <a:ext cx="9429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THE MISSION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324100"/>
            <a:ext cx="555069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Streamlining Library Ops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7241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BookWorm is a full-stack application designed to modernize the tracking of books, members, and loans.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3695700"/>
            <a:ext cx="1390650" cy="247650"/>
          </a:xfrm>
          <a:prstGeom prst="roundRect">
            <a:avLst>
              <a:gd fmla="val 30769" name="adj"/>
            </a:avLst>
          </a:prstGeom>
          <a:solidFill>
            <a:srgbClr val="E8E4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" y="3743325"/>
            <a:ext cx="1200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THE TECH STACK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5325" y="41910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419100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Backend:</a:t>
            </a: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 Python &amp; Django Framework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95325" y="4638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463867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Database:</a:t>
            </a: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 MySQL (Relational Schema)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95325" y="50863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2000" y="508635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Frontend:</a:t>
            </a: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 HTML5, CSS3, Bootstrap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95325" y="55340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62000" y="553402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Payment:</a:t>
            </a: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 Stripe API Integration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2225" y="2119312"/>
            <a:ext cx="5210175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DD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85925"/>
            <a:ext cx="5286375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85925"/>
            <a:ext cx="5286375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Scenario Implementation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4E1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962025" y="2076450"/>
            <a:ext cx="473059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C7B75"/>
                </a:solidFill>
                <a:latin typeface="Azeret Mono"/>
                <a:ea typeface="Azeret Mono"/>
                <a:cs typeface="Azeret Mono"/>
                <a:sym typeface="Azeret Mono"/>
              </a:rPr>
              <a:t>CORE FEATURES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62025" y="276225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The foundation of the system, established in Phases 1-3.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724650" y="2076450"/>
            <a:ext cx="473059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C7B75"/>
                </a:solidFill>
                <a:latin typeface="Azeret Mono"/>
                <a:ea typeface="Azeret Mono"/>
                <a:cs typeface="Azeret Mono"/>
                <a:sym typeface="Azeret Mono"/>
              </a:rPr>
              <a:t>ADVANCED FEATURES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724650" y="276225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New capabilities introduced in the final Phase 4 integration.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09550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085850" y="37147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152525" y="3714750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New Member Registration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085850" y="41624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152525" y="4162425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Book Check-Out &amp; Return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085850" y="46101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152525" y="4610100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Real-time Catalog Search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085850" y="50577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152525" y="5057775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Fine Calculation Logic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209550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6848475" y="37147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915150" y="3714750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Stripe Payment Processing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848475" y="41624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915150" y="4162425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Automated Email Notifications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848475" y="46101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915150" y="4610100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Dynamic Inventory Management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848475" y="50577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915150" y="5057775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Member Loan History &amp; Dashboard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DD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812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System Architecture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4E1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571500" y="2247900"/>
            <a:ext cx="555069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MVT Pattern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26479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We utilized Django's </a:t>
            </a:r>
            <a:r>
              <a:rPr b="1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Model-View-Template</a:t>
            </a: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 architecture to ensure modularity and security.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95325" y="34480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62000" y="344805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Model:</a:t>
            </a: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 5 SQL Tables (Members, Books, Authors, Loans, Fines) defining the data structure.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95325" y="42005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62000" y="4200525"/>
            <a:ext cx="50958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View:</a:t>
            </a: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 Python logic in views.py handling business rules (e.g., date math for due dates).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95325" y="49625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762000" y="49625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Template:</a:t>
            </a:r>
            <a:r>
              <a:rPr b="0" i="0" lang="en-US" sz="1500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 Dynamic HTML rendering user data using Django Template Language (DTL).</a:t>
            </a:r>
            <a:endParaRPr/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725" y="2309812"/>
            <a:ext cx="4829175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DD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/>
        </p:nvSpPr>
        <p:spPr>
          <a:xfrm>
            <a:off x="3260645" y="2113657"/>
            <a:ext cx="5670708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Live Demo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3395662" y="3513832"/>
            <a:ext cx="54006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66666"/>
                </a:solidFill>
                <a:latin typeface="Azeret Mono"/>
                <a:ea typeface="Azeret Mono"/>
                <a:cs typeface="Azeret Mono"/>
                <a:sym typeface="Azeret Mono"/>
              </a:rPr>
              <a:t>Switching to Application...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3395662" y="4477642"/>
            <a:ext cx="5400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rPr>
              <a:t>Scenarios 1-10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987" y="4487167"/>
            <a:ext cx="1428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